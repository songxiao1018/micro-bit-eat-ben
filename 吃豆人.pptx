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62" r:id="rId7"/>
    <p:sldId id="261" r:id="rId8"/>
    <p:sldId id="263" r:id="rId9"/>
    <p:sldId id="264" r:id="rId10"/>
    <p:sldId id="266" r:id="rId11"/>
    <p:sldId id="267" r:id="rId12"/>
    <p:sldId id="270" r:id="rId13"/>
  </p:sldIdLst>
  <p:sldSz cx="18288000" cy="10287000"/>
  <p:notesSz cx="6858000" cy="9144000"/>
  <p:embeddedFontLst>
    <p:embeddedFont>
      <p:font typeface="字由点字倔强黑" panose="00020600040101010101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98D0"/>
    <a:srgbClr val="BEC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86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8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247427" y="769892"/>
            <a:ext cx="14024232" cy="8747216"/>
            <a:chOff x="0" y="0"/>
            <a:chExt cx="18698977" cy="1166295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662955" cy="11662955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9554977" y="832817"/>
              <a:ext cx="9144000" cy="914400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5335949" y="345077"/>
              <a:ext cx="9144000" cy="9144000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 rot="-818010">
            <a:off x="3970427" y="2098185"/>
            <a:ext cx="10191466" cy="604294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0">
            <a:off x="6093429" y="6531511"/>
            <a:ext cx="6101143" cy="646721"/>
            <a:chOff x="0" y="0"/>
            <a:chExt cx="8134857" cy="862295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8134857" cy="862295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20997" y="119376"/>
              <a:ext cx="7892863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spc="260">
                  <a:solidFill>
                    <a:srgbClr val="000000"/>
                  </a:solidFill>
                  <a:ea typeface="思源黑体" panose="020B0500000000000000" charset="-122"/>
                </a:rPr>
                <a:t>汇报人：</a:t>
              </a:r>
              <a:r>
                <a:rPr lang="zh-CN" altLang="en-US" sz="2600" spc="260">
                  <a:solidFill>
                    <a:srgbClr val="000000"/>
                  </a:solidFill>
                  <a:ea typeface="思源黑体" panose="020B0500000000000000" charset="-122"/>
                </a:rPr>
                <a:t>晓晓星空</a:t>
              </a:r>
              <a:endParaRPr lang="zh-CN" altLang="en-US" sz="2600" spc="260">
                <a:solidFill>
                  <a:srgbClr val="000000"/>
                </a:solidFill>
                <a:ea typeface="思源黑体" panose="020B0500000000000000" charset="-122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8504388" y="1028700"/>
            <a:ext cx="1279224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3401816" y="2411201"/>
            <a:ext cx="1417788" cy="1417788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3312717" y="6344757"/>
            <a:ext cx="1816382" cy="1816382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028700" y="8326663"/>
            <a:ext cx="931637" cy="931637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79377" y="1104909"/>
            <a:ext cx="16374254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6000">
                <a:solidFill>
                  <a:srgbClr val="000000"/>
                </a:solidFill>
                <a:ea typeface="字由点字倔强黑" panose="00020600040101010101" charset="-122"/>
              </a:rPr>
              <a:t>基于</a:t>
            </a:r>
            <a:r>
              <a:rPr lang="en-US" sz="6000">
                <a:solidFill>
                  <a:srgbClr val="000000"/>
                </a:solidFill>
                <a:ea typeface="字由点字倔强黑" panose="00020600040101010101" charset="-122"/>
              </a:rPr>
              <a:t>Micro</a:t>
            </a:r>
            <a:r>
              <a:rPr lang="zh-CN" altLang="en-US" sz="6000">
                <a:solidFill>
                  <a:srgbClr val="000000"/>
                </a:solidFill>
                <a:ea typeface="字由点字倔强黑" panose="00020600040101010101" charset="-122"/>
              </a:rPr>
              <a:t>：</a:t>
            </a:r>
            <a:r>
              <a:rPr lang="en-US" altLang="zh-CN" sz="6000">
                <a:solidFill>
                  <a:srgbClr val="000000"/>
                </a:solidFill>
                <a:ea typeface="字由点字倔强黑" panose="00020600040101010101" charset="-122"/>
              </a:rPr>
              <a:t>bit</a:t>
            </a:r>
            <a:r>
              <a:rPr lang="zh-CN" altLang="en-US" sz="6000">
                <a:solidFill>
                  <a:srgbClr val="000000"/>
                </a:solidFill>
                <a:ea typeface="字由点字倔强黑" panose="00020600040101010101" charset="-122"/>
              </a:rPr>
              <a:t>的积木编程</a:t>
            </a:r>
            <a:endParaRPr lang="zh-CN" altLang="en-US" sz="6000">
              <a:solidFill>
                <a:srgbClr val="000000"/>
              </a:solidFill>
              <a:ea typeface="字由点字倔强黑" panose="00020600040101010101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007774" y="8161139"/>
            <a:ext cx="2251526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spc="359">
                <a:solidFill>
                  <a:srgbClr val="000000"/>
                </a:solidFill>
                <a:latin typeface="思源黑体" panose="020B0500000000000000" charset="-122"/>
              </a:rPr>
              <a:t>2022</a:t>
            </a:r>
            <a:endParaRPr lang="en-US" sz="3600" spc="359">
              <a:solidFill>
                <a:srgbClr val="000000"/>
              </a:solidFill>
              <a:latin typeface="思源黑体" panose="020B0500000000000000" charset="-122"/>
            </a:endParaRPr>
          </a:p>
          <a:p>
            <a:pPr algn="r">
              <a:lnSpc>
                <a:spcPts val="4320"/>
              </a:lnSpc>
            </a:pPr>
            <a:r>
              <a:rPr lang="en-US" sz="3600" spc="359">
                <a:solidFill>
                  <a:srgbClr val="000000"/>
                </a:solidFill>
                <a:latin typeface="思源黑体" panose="020B0500000000000000" charset="-122"/>
              </a:rPr>
              <a:t>0727</a:t>
            </a:r>
            <a:endParaRPr lang="en-US" sz="3600" spc="359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018237" y="8938320"/>
            <a:ext cx="225152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1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20" name="TextBox 15"/>
          <p:cNvSpPr txBox="1"/>
          <p:nvPr/>
        </p:nvSpPr>
        <p:spPr>
          <a:xfrm>
            <a:off x="914302" y="3780799"/>
            <a:ext cx="16374254" cy="135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 fontAlgn="auto">
              <a:lnSpc>
                <a:spcPct val="100000"/>
              </a:lnSpc>
            </a:pPr>
            <a:r>
              <a:rPr lang="zh-CN" altLang="en-US" sz="8800">
                <a:solidFill>
                  <a:srgbClr val="000000"/>
                </a:solidFill>
                <a:ea typeface="字由点字倔强黑" panose="00020600040101010101" charset="-122"/>
              </a:rPr>
              <a:t>吃豆人</a:t>
            </a:r>
            <a:r>
              <a:rPr lang="zh-CN" altLang="en-US" sz="6000">
                <a:solidFill>
                  <a:srgbClr val="000000"/>
                </a:solidFill>
                <a:latin typeface="+mn-ea"/>
              </a:rPr>
              <a:t>小游戏</a:t>
            </a:r>
            <a:endParaRPr lang="zh-CN" altLang="en-US" sz="600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1" name="图片 20" descr="9ecd272fa82137b21e0564fa559aa890"/>
          <p:cNvPicPr>
            <a:picLocks noChangeAspect="1"/>
          </p:cNvPicPr>
          <p:nvPr/>
        </p:nvPicPr>
        <p:blipFill>
          <a:blip r:embed="rId15"/>
          <a:srcRect l="10662" t="14435" r="9687" b="13820"/>
          <a:stretch>
            <a:fillRect/>
          </a:stretch>
        </p:blipFill>
        <p:spPr>
          <a:xfrm rot="21060000">
            <a:off x="3152140" y="3800872"/>
            <a:ext cx="2801620" cy="2526903"/>
          </a:xfrm>
          <a:prstGeom prst="rect">
            <a:avLst/>
          </a:prstGeom>
        </p:spPr>
      </p:pic>
      <p:grpSp>
        <p:nvGrpSpPr>
          <p:cNvPr id="19" name="Group 8"/>
          <p:cNvGrpSpPr/>
          <p:nvPr/>
        </p:nvGrpSpPr>
        <p:grpSpPr>
          <a:xfrm rot="0">
            <a:off x="6095969" y="7514491"/>
            <a:ext cx="6101143" cy="646721"/>
            <a:chOff x="0" y="0"/>
            <a:chExt cx="8134857" cy="862295"/>
          </a:xfrm>
        </p:grpSpPr>
        <p:pic>
          <p:nvPicPr>
            <p:cNvPr id="22" name="Picture 9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8134857" cy="862295"/>
            </a:xfrm>
            <a:prstGeom prst="rect">
              <a:avLst/>
            </a:prstGeom>
          </p:spPr>
        </p:pic>
        <p:sp>
          <p:nvSpPr>
            <p:cNvPr id="23" name="TextBox 10"/>
            <p:cNvSpPr txBox="1"/>
            <p:nvPr/>
          </p:nvSpPr>
          <p:spPr>
            <a:xfrm>
              <a:off x="120997" y="179489"/>
              <a:ext cx="7892863" cy="502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zh-CN" altLang="en-US" sz="2600" spc="210">
                  <a:solidFill>
                    <a:srgbClr val="000000"/>
                  </a:solidFill>
                  <a:ea typeface="思源黑体" panose="020B0500000000000000" charset="-122"/>
                  <a:sym typeface="+mn-ea"/>
                </a:rPr>
                <a:t>联系方式：</a:t>
              </a:r>
              <a:r>
                <a:rPr lang="en-US" sz="2600" spc="210">
                  <a:solidFill>
                    <a:srgbClr val="000000"/>
                  </a:solidFill>
                  <a:ea typeface="思源黑体" panose="020B0500000000000000" charset="-122"/>
                  <a:sym typeface="+mn-ea"/>
                </a:rPr>
                <a:t>skyxiaoxiao@yeah.net</a:t>
              </a:r>
              <a:endParaRPr lang="zh-CN" altLang="en-US" sz="2600" spc="260">
                <a:solidFill>
                  <a:srgbClr val="000000"/>
                </a:solidFill>
                <a:ea typeface="思源黑体" panose="020B0500000000000000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246157" y="769892"/>
            <a:ext cx="14024232" cy="8747216"/>
            <a:chOff x="0" y="0"/>
            <a:chExt cx="18698977" cy="1166295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>
              <a:alphaModFix amt="43999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662955" cy="11662955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2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9554977" y="832817"/>
              <a:ext cx="9144000" cy="914400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5335949" y="345077"/>
              <a:ext cx="9144000" cy="9144000"/>
            </a:xfrm>
            <a:prstGeom prst="rect">
              <a:avLst/>
            </a:prstGeom>
          </p:spPr>
        </p:pic>
      </p:grpSp>
      <p:sp>
        <p:nvSpPr>
          <p:cNvPr id="6" name="AutoShape 6"/>
          <p:cNvSpPr/>
          <p:nvPr/>
        </p:nvSpPr>
        <p:spPr>
          <a:xfrm rot="-5400000">
            <a:off x="2750685" y="5314343"/>
            <a:ext cx="4109751" cy="0"/>
          </a:xfrm>
          <a:prstGeom prst="line">
            <a:avLst/>
          </a:prstGeom>
          <a:ln w="762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8504388" y="1028700"/>
            <a:ext cx="1279224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6543790" y="8472501"/>
            <a:ext cx="931637" cy="931637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018237" y="8938320"/>
            <a:ext cx="225152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2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981075"/>
            <a:ext cx="5799724" cy="44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 spc="260">
                <a:solidFill>
                  <a:srgbClr val="000000"/>
                </a:solidFill>
                <a:latin typeface="思源黑体 Bold" panose="020B0600000000000000" charset="-122"/>
              </a:rPr>
              <a:t>CONTENTS</a:t>
            </a:r>
            <a:endParaRPr lang="en-US" sz="2600" spc="260">
              <a:solidFill>
                <a:srgbClr val="000000"/>
              </a:solidFill>
              <a:latin typeface="思源黑体 Bold" panose="020B06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273007" y="2626487"/>
            <a:ext cx="3382189" cy="193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560"/>
              </a:lnSpc>
            </a:pPr>
            <a:r>
              <a:rPr lang="en-US" sz="5400" spc="540">
                <a:solidFill>
                  <a:srgbClr val="000000"/>
                </a:solidFill>
                <a:latin typeface="思源黑体 Bold" panose="020B0600000000000000" charset="-122"/>
              </a:rPr>
              <a:t>01/</a:t>
            </a:r>
            <a:endParaRPr lang="en-US" sz="5400" spc="540">
              <a:solidFill>
                <a:srgbClr val="000000"/>
              </a:solidFill>
              <a:latin typeface="思源黑体 Bold" panose="020B0600000000000000" charset="-122"/>
            </a:endParaRPr>
          </a:p>
          <a:p>
            <a:pPr>
              <a:lnSpc>
                <a:spcPts val="7560"/>
              </a:lnSpc>
              <a:spcBef>
                <a:spcPct val="0"/>
              </a:spcBef>
            </a:pPr>
            <a:r>
              <a:rPr lang="en-US" sz="5400" spc="540">
                <a:solidFill>
                  <a:srgbClr val="000000"/>
                </a:solidFill>
                <a:ea typeface="思源黑体 Bold" panose="020B0600000000000000" charset="-122"/>
              </a:rPr>
              <a:t> </a:t>
            </a:r>
            <a:r>
              <a:rPr lang="zh-CN" sz="5400" spc="540">
                <a:solidFill>
                  <a:srgbClr val="000000"/>
                </a:solidFill>
                <a:ea typeface="思源黑体 Bold" panose="020B0600000000000000" charset="-122"/>
              </a:rPr>
              <a:t>项目</a:t>
            </a:r>
            <a:r>
              <a:rPr lang="zh-CN" sz="5400" spc="540">
                <a:solidFill>
                  <a:srgbClr val="000000"/>
                </a:solidFill>
                <a:ea typeface="思源黑体 Bold" panose="020B0600000000000000" charset="-122"/>
              </a:rPr>
              <a:t>介绍</a:t>
            </a:r>
            <a:endParaRPr lang="zh-CN" sz="5400" spc="540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164903" y="2626487"/>
            <a:ext cx="3809113" cy="193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560"/>
              </a:lnSpc>
            </a:pPr>
            <a:r>
              <a:rPr lang="en-US" sz="5400" spc="540">
                <a:solidFill>
                  <a:srgbClr val="000000"/>
                </a:solidFill>
                <a:latin typeface="思源黑体 Bold" panose="020B0600000000000000" charset="-122"/>
              </a:rPr>
              <a:t>02/</a:t>
            </a:r>
            <a:endParaRPr lang="en-US" sz="5400" spc="540">
              <a:solidFill>
                <a:srgbClr val="000000"/>
              </a:solidFill>
              <a:latin typeface="思源黑体 Bold" panose="020B0600000000000000" charset="-122"/>
            </a:endParaRPr>
          </a:p>
          <a:p>
            <a:pPr>
              <a:lnSpc>
                <a:spcPts val="7560"/>
              </a:lnSpc>
              <a:spcBef>
                <a:spcPct val="0"/>
              </a:spcBef>
            </a:pPr>
            <a:r>
              <a:rPr lang="zh-CN" altLang="en-US" sz="5400" spc="540">
                <a:solidFill>
                  <a:srgbClr val="000000"/>
                </a:solidFill>
                <a:ea typeface="思源黑体 Bold" panose="020B0600000000000000" charset="-122"/>
              </a:rPr>
              <a:t>代码</a:t>
            </a:r>
            <a:r>
              <a:rPr lang="zh-CN" altLang="en-US" sz="5400" spc="540">
                <a:solidFill>
                  <a:srgbClr val="000000"/>
                </a:solidFill>
                <a:ea typeface="思源黑体 Bold" panose="020B0600000000000000" charset="-122"/>
              </a:rPr>
              <a:t>搭建</a:t>
            </a:r>
            <a:endParaRPr lang="zh-CN" altLang="en-US" sz="5400" spc="540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273007" y="6096248"/>
            <a:ext cx="3382189" cy="187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560"/>
              </a:lnSpc>
            </a:pPr>
            <a:r>
              <a:rPr lang="en-US" sz="5400" spc="540">
                <a:solidFill>
                  <a:srgbClr val="000000"/>
                </a:solidFill>
                <a:latin typeface="思源黑体 Bold" panose="020B0600000000000000" charset="-122"/>
              </a:rPr>
              <a:t>03/</a:t>
            </a:r>
            <a:endParaRPr lang="en-US" sz="5400" spc="540">
              <a:solidFill>
                <a:srgbClr val="000000"/>
              </a:solidFill>
              <a:latin typeface="思源黑体 Bold" panose="020B0600000000000000" charset="-122"/>
            </a:endParaRPr>
          </a:p>
          <a:p>
            <a:pPr>
              <a:lnSpc>
                <a:spcPts val="7560"/>
              </a:lnSpc>
              <a:spcBef>
                <a:spcPct val="0"/>
              </a:spcBef>
            </a:pPr>
            <a:r>
              <a:rPr lang="en-US" sz="5400" spc="540">
                <a:solidFill>
                  <a:srgbClr val="000000"/>
                </a:solidFill>
                <a:ea typeface="思源黑体 Bold" panose="020B0600000000000000" charset="-122"/>
              </a:rPr>
              <a:t>成果展示</a:t>
            </a:r>
            <a:endParaRPr lang="en-US" sz="5400" spc="540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164903" y="6096248"/>
            <a:ext cx="3809113" cy="187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560"/>
              </a:lnSpc>
            </a:pPr>
            <a:r>
              <a:rPr lang="en-US" sz="5400" spc="540">
                <a:solidFill>
                  <a:srgbClr val="000000"/>
                </a:solidFill>
                <a:latin typeface="思源黑体 Bold" panose="020B0600000000000000" charset="-122"/>
              </a:rPr>
              <a:t>04/</a:t>
            </a:r>
            <a:endParaRPr lang="en-US" sz="5400" spc="540">
              <a:solidFill>
                <a:srgbClr val="000000"/>
              </a:solidFill>
              <a:latin typeface="思源黑体 Bold" panose="020B0600000000000000" charset="-122"/>
            </a:endParaRPr>
          </a:p>
          <a:p>
            <a:pPr>
              <a:lnSpc>
                <a:spcPts val="7560"/>
              </a:lnSpc>
              <a:spcBef>
                <a:spcPct val="0"/>
              </a:spcBef>
            </a:pPr>
            <a:r>
              <a:rPr lang="en-US" sz="5400" spc="540">
                <a:solidFill>
                  <a:srgbClr val="000000"/>
                </a:solidFill>
                <a:ea typeface="思源黑体 Bold" panose="020B0600000000000000" charset="-122"/>
              </a:rPr>
              <a:t>复盘总结</a:t>
            </a:r>
            <a:endParaRPr lang="en-US" sz="5400" spc="540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594175" y="3057061"/>
            <a:ext cx="1828800" cy="359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 spc="1200">
                <a:solidFill>
                  <a:srgbClr val="000000"/>
                </a:solidFill>
                <a:ea typeface="字由点字倔强黑 Bold"/>
              </a:rPr>
              <a:t>目录</a:t>
            </a:r>
            <a:endParaRPr lang="en-US" sz="12000" spc="1200">
              <a:solidFill>
                <a:srgbClr val="000000"/>
              </a:solidFill>
              <a:ea typeface="字由点字倔强黑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247427" y="769892"/>
            <a:ext cx="14024232" cy="8747216"/>
            <a:chOff x="0" y="0"/>
            <a:chExt cx="18698977" cy="1166295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662955" cy="11662955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9554977" y="832817"/>
              <a:ext cx="9144000" cy="914400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5335949" y="345077"/>
              <a:ext cx="9144000" cy="9144000"/>
            </a:xfrm>
            <a:prstGeom prst="rect">
              <a:avLst/>
            </a:prstGeom>
          </p:spPr>
        </p:pic>
      </p:grpSp>
      <p:sp>
        <p:nvSpPr>
          <p:cNvPr id="6" name="AutoShape 6"/>
          <p:cNvSpPr/>
          <p:nvPr/>
        </p:nvSpPr>
        <p:spPr>
          <a:xfrm>
            <a:off x="8504388" y="1028700"/>
            <a:ext cx="1279224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" name="TextBox 7"/>
          <p:cNvSpPr txBox="1"/>
          <p:nvPr/>
        </p:nvSpPr>
        <p:spPr>
          <a:xfrm>
            <a:off x="8018237" y="8938320"/>
            <a:ext cx="225152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3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78398" y="4979005"/>
            <a:ext cx="6931204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0"/>
              </a:lnSpc>
              <a:spcBef>
                <a:spcPct val="0"/>
              </a:spcBef>
            </a:pPr>
            <a:r>
              <a:rPr lang="zh-CN" altLang="en-US" sz="10025" spc="1002">
                <a:solidFill>
                  <a:srgbClr val="000000"/>
                </a:solidFill>
                <a:ea typeface="字由点字倔强黑 Bold"/>
              </a:rPr>
              <a:t>项目</a:t>
            </a:r>
            <a:r>
              <a:rPr lang="zh-CN" altLang="en-US" sz="10025" spc="1002">
                <a:solidFill>
                  <a:srgbClr val="000000"/>
                </a:solidFill>
                <a:ea typeface="字由点字倔强黑 Bold"/>
              </a:rPr>
              <a:t>介绍</a:t>
            </a:r>
            <a:endParaRPr lang="zh-CN" altLang="en-US" sz="10025" spc="1002">
              <a:solidFill>
                <a:srgbClr val="000000"/>
              </a:solidFill>
              <a:ea typeface="字由点字倔强黑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243964" y="3246561"/>
            <a:ext cx="5989788" cy="1861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0"/>
              </a:lnSpc>
              <a:spcBef>
                <a:spcPct val="0"/>
              </a:spcBef>
            </a:pPr>
            <a:r>
              <a:rPr lang="en-US" sz="10025" spc="1002">
                <a:solidFill>
                  <a:srgbClr val="000000"/>
                </a:solidFill>
                <a:latin typeface="庞门正道标题体简 Bold"/>
              </a:rPr>
              <a:t>PART01</a:t>
            </a:r>
            <a:endParaRPr lang="en-US" sz="10025" spc="1002">
              <a:solidFill>
                <a:srgbClr val="000000"/>
              </a:solidFill>
              <a:latin typeface="庞门正道标题体简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990600"/>
            <a:ext cx="296790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INTRODUCE 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MYSELF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43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6246495" y="5143500"/>
            <a:ext cx="8747125" cy="874712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8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19480" y="5768340"/>
            <a:ext cx="6858000" cy="685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-2244725" y="5402580"/>
            <a:ext cx="6858000" cy="685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alphaModFix amt="43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0515600" y="-2933700"/>
            <a:ext cx="8747125" cy="874712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8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7681575" y="-2308860"/>
            <a:ext cx="6858000" cy="685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4517370" y="-2674620"/>
            <a:ext cx="6858000" cy="685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504388" y="1028700"/>
            <a:ext cx="1279224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" name="TextBox 11"/>
          <p:cNvSpPr txBox="1"/>
          <p:nvPr/>
        </p:nvSpPr>
        <p:spPr>
          <a:xfrm>
            <a:off x="8018237" y="8938320"/>
            <a:ext cx="225152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4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9480" y="2324100"/>
            <a:ext cx="6705600" cy="252349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9840"/>
              </a:lnSpc>
            </a:pPr>
            <a:r>
              <a:rPr lang="zh-CN" altLang="en-US" sz="8200">
                <a:solidFill>
                  <a:srgbClr val="000000"/>
                </a:solidFill>
                <a:ea typeface="字由点字倔强黑 Bold"/>
              </a:rPr>
              <a:t>项目</a:t>
            </a:r>
            <a:endParaRPr lang="zh-CN" altLang="en-US" sz="8200">
              <a:solidFill>
                <a:srgbClr val="000000"/>
              </a:solidFill>
              <a:ea typeface="字由点字倔强黑 Bold"/>
            </a:endParaRPr>
          </a:p>
          <a:p>
            <a:pPr>
              <a:lnSpc>
                <a:spcPts val="9840"/>
              </a:lnSpc>
            </a:pPr>
            <a:r>
              <a:rPr lang="zh-CN" altLang="en-US" sz="8200">
                <a:solidFill>
                  <a:srgbClr val="000000"/>
                </a:solidFill>
                <a:ea typeface="字由点字倔强黑 Bold"/>
              </a:rPr>
              <a:t>已实现的</a:t>
            </a:r>
            <a:r>
              <a:rPr lang="zh-CN" altLang="en-US" sz="8200">
                <a:solidFill>
                  <a:srgbClr val="000000"/>
                </a:solidFill>
                <a:ea typeface="字由点字倔强黑 Bold"/>
              </a:rPr>
              <a:t>功能</a:t>
            </a:r>
            <a:endParaRPr lang="zh-CN" altLang="en-US" sz="8200">
              <a:solidFill>
                <a:srgbClr val="000000"/>
              </a:solidFill>
              <a:ea typeface="字由点字倔强黑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990600"/>
            <a:ext cx="29679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PURPOSE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44000" y="1913255"/>
            <a:ext cx="81153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  <a:spcBef>
                <a:spcPct val="0"/>
              </a:spcBef>
            </a:pPr>
            <a:r>
              <a:rPr lang="zh-CN" altLang="en-US" sz="3600" spc="359">
                <a:solidFill>
                  <a:srgbClr val="000000"/>
                </a:solidFill>
                <a:ea typeface="思源黑体 Bold" panose="020B0600000000000000" charset="-122"/>
              </a:rPr>
              <a:t>游戏载入</a:t>
            </a:r>
            <a:r>
              <a:rPr lang="en-US" sz="3600" spc="359">
                <a:solidFill>
                  <a:srgbClr val="000000"/>
                </a:solidFill>
                <a:ea typeface="思源黑体 Bold" panose="020B0600000000000000" charset="-122"/>
              </a:rPr>
              <a:t>:</a:t>
            </a:r>
            <a:endParaRPr lang="en-US" sz="3600" spc="359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44000" y="2766060"/>
            <a:ext cx="8115300" cy="75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当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Micro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：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bit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接电开机时，屏幕滚动显示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“Hello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！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”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的字幕。此时长按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“A”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键可以实现进入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游戏</a:t>
            </a:r>
            <a:endParaRPr lang="zh-CN" altLang="en-US" sz="2100" spc="210">
              <a:solidFill>
                <a:srgbClr val="000000"/>
              </a:solidFill>
              <a:ea typeface="思源黑体" panose="020B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44000" y="4152900"/>
            <a:ext cx="81153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  <a:spcBef>
                <a:spcPct val="0"/>
              </a:spcBef>
            </a:pPr>
            <a:r>
              <a:rPr lang="zh-CN" altLang="en-US" sz="3600" spc="359">
                <a:solidFill>
                  <a:srgbClr val="000000"/>
                </a:solidFill>
                <a:ea typeface="思源黑体 Bold" panose="020B0600000000000000" charset="-122"/>
              </a:rPr>
              <a:t>游戏暂停</a:t>
            </a:r>
            <a:r>
              <a:rPr lang="en-US" sz="3600" spc="359">
                <a:solidFill>
                  <a:srgbClr val="000000"/>
                </a:solidFill>
                <a:ea typeface="思源黑体 Bold" panose="020B0600000000000000" charset="-122"/>
              </a:rPr>
              <a:t>:</a:t>
            </a:r>
            <a:endParaRPr lang="en-US" sz="3600" spc="359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44000" y="5005705"/>
            <a:ext cx="8115300" cy="1130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在游戏进行的任意阶段，我们都可以同时按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“A”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和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“B”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两个按键实现游戏暂停，此时屏幕显示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“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o”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。当需要继续游戏，我们可以再次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  <a:sym typeface="+mn-ea"/>
              </a:rPr>
              <a:t>同时按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  <a:sym typeface="+mn-ea"/>
              </a:rPr>
              <a:t>“A”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  <a:sym typeface="+mn-ea"/>
              </a:rPr>
              <a:t>和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  <a:sym typeface="+mn-ea"/>
              </a:rPr>
              <a:t>“B”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  <a:sym typeface="+mn-ea"/>
              </a:rPr>
              <a:t>就可以继续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  <a:sym typeface="+mn-ea"/>
              </a:rPr>
              <a:t>游戏</a:t>
            </a:r>
            <a:endParaRPr lang="zh-CN" altLang="en-US" sz="2100" spc="210">
              <a:solidFill>
                <a:srgbClr val="000000"/>
              </a:solidFill>
              <a:ea typeface="思源黑体" panose="020B0500000000000000" charset="-122"/>
              <a:sym typeface="+mn-ea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144000" y="6652895"/>
            <a:ext cx="81153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  <a:spcBef>
                <a:spcPct val="0"/>
              </a:spcBef>
            </a:pPr>
            <a:r>
              <a:rPr lang="zh-CN" altLang="en-US" sz="3600" spc="359">
                <a:solidFill>
                  <a:srgbClr val="000000"/>
                </a:solidFill>
                <a:ea typeface="思源黑体 Bold" panose="020B0600000000000000" charset="-122"/>
              </a:rPr>
              <a:t>游戏重新开始</a:t>
            </a:r>
            <a:r>
              <a:rPr lang="en-US" sz="3600" spc="359">
                <a:solidFill>
                  <a:srgbClr val="000000"/>
                </a:solidFill>
                <a:ea typeface="思源黑体 Bold" panose="020B0600000000000000" charset="-122"/>
              </a:rPr>
              <a:t>:</a:t>
            </a:r>
            <a:endParaRPr lang="en-US" sz="3600" spc="359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44000" y="7505700"/>
            <a:ext cx="8115300" cy="75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  <a:spcBef>
                <a:spcPct val="0"/>
              </a:spcBef>
            </a:pP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当游戏失败后，显获得的得分。这是想要从新开始需要同时按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“A”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和</a:t>
            </a:r>
            <a:r>
              <a:rPr lang="en-US" altLang="zh-CN" sz="2100" spc="210">
                <a:solidFill>
                  <a:srgbClr val="000000"/>
                </a:solidFill>
                <a:ea typeface="思源黑体" panose="020B0500000000000000" charset="-122"/>
              </a:rPr>
              <a:t>“B”</a:t>
            </a:r>
            <a:r>
              <a:rPr lang="zh-CN" altLang="en-US" sz="2100" spc="210">
                <a:solidFill>
                  <a:srgbClr val="000000"/>
                </a:solidFill>
                <a:ea typeface="思源黑体" panose="020B0500000000000000" charset="-122"/>
              </a:rPr>
              <a:t>键</a:t>
            </a:r>
            <a:endParaRPr lang="zh-CN" altLang="en-US" sz="2100" spc="210">
              <a:solidFill>
                <a:srgbClr val="000000"/>
              </a:solidFill>
              <a:ea typeface="思源黑体" panose="020B0500000000000000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8763000" y="1907540"/>
            <a:ext cx="0" cy="63163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2247265" y="769620"/>
            <a:ext cx="8747125" cy="874712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413875" y="1394460"/>
            <a:ext cx="6858000" cy="685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6249670" y="1028700"/>
            <a:ext cx="6858000" cy="685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504388" y="1028700"/>
            <a:ext cx="1279224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" name="TextBox 7"/>
          <p:cNvSpPr txBox="1"/>
          <p:nvPr/>
        </p:nvSpPr>
        <p:spPr>
          <a:xfrm>
            <a:off x="8018237" y="8938320"/>
            <a:ext cx="225152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5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78398" y="4979005"/>
            <a:ext cx="6931204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0"/>
              </a:lnSpc>
              <a:spcBef>
                <a:spcPct val="0"/>
              </a:spcBef>
            </a:pPr>
            <a:r>
              <a:rPr lang="zh-CN" altLang="en-US" sz="10025" spc="1002">
                <a:solidFill>
                  <a:srgbClr val="000000"/>
                </a:solidFill>
                <a:ea typeface="字由点字倔强黑 Bold"/>
              </a:rPr>
              <a:t>代码</a:t>
            </a:r>
            <a:r>
              <a:rPr lang="zh-CN" altLang="en-US" sz="10025" spc="1002">
                <a:solidFill>
                  <a:srgbClr val="000000"/>
                </a:solidFill>
                <a:ea typeface="字由点字倔强黑 Bold"/>
              </a:rPr>
              <a:t>搭建</a:t>
            </a:r>
            <a:endParaRPr lang="zh-CN" altLang="en-US" sz="10025" spc="1002">
              <a:solidFill>
                <a:srgbClr val="000000"/>
              </a:solidFill>
              <a:ea typeface="字由点字倔强黑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149106" y="3246561"/>
            <a:ext cx="5989788" cy="185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0"/>
              </a:lnSpc>
              <a:spcBef>
                <a:spcPct val="0"/>
              </a:spcBef>
            </a:pPr>
            <a:r>
              <a:rPr lang="en-US" sz="10025" spc="1002">
                <a:solidFill>
                  <a:srgbClr val="000000"/>
                </a:solidFill>
                <a:latin typeface="庞门正道标题体简 Bold"/>
              </a:rPr>
              <a:t>PART02</a:t>
            </a:r>
            <a:endParaRPr lang="en-US" sz="10025" spc="1002">
              <a:solidFill>
                <a:srgbClr val="000000"/>
              </a:solidFill>
              <a:latin typeface="庞门正道标题体简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990600"/>
            <a:ext cx="296790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PROJECT 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DETAILS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504388" y="1028700"/>
            <a:ext cx="1279224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" name="TextBox 4"/>
          <p:cNvSpPr txBox="1"/>
          <p:nvPr/>
        </p:nvSpPr>
        <p:spPr>
          <a:xfrm>
            <a:off x="1028700" y="990600"/>
            <a:ext cx="29679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PURPOSE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alphaModFix amt="43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2819400" y="770255"/>
            <a:ext cx="8747125" cy="874712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8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985375" y="1395095"/>
            <a:ext cx="6858000" cy="685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6821170" y="1029335"/>
            <a:ext cx="6858000" cy="6858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087108" y="1674302"/>
            <a:ext cx="6113784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0"/>
              </a:lnSpc>
              <a:spcBef>
                <a:spcPct val="0"/>
              </a:spcBef>
            </a:pPr>
            <a:r>
              <a:rPr lang="en-US" sz="8200" spc="819">
                <a:solidFill>
                  <a:srgbClr val="000000"/>
                </a:solidFill>
                <a:ea typeface="字由点字倔强黑" panose="00020600040101010101" charset="-122"/>
              </a:rPr>
              <a:t>项目</a:t>
            </a:r>
            <a:r>
              <a:rPr lang="zh-CN" altLang="en-US" sz="8200" spc="819">
                <a:solidFill>
                  <a:srgbClr val="000000"/>
                </a:solidFill>
                <a:ea typeface="字由点字倔强黑" panose="00020600040101010101" charset="-122"/>
              </a:rPr>
              <a:t>介绍</a:t>
            </a:r>
            <a:endParaRPr lang="zh-CN" altLang="en-US" sz="8200" spc="819">
              <a:solidFill>
                <a:srgbClr val="000000"/>
              </a:solidFill>
              <a:ea typeface="字由点字倔强黑" panose="00020600040101010101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058670" y="6743700"/>
            <a:ext cx="14018260" cy="635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9" name="圆角矩形 18"/>
          <p:cNvSpPr/>
          <p:nvPr/>
        </p:nvSpPr>
        <p:spPr>
          <a:xfrm>
            <a:off x="2057400" y="4260215"/>
            <a:ext cx="3505200" cy="1447800"/>
          </a:xfrm>
          <a:prstGeom prst="roundRect">
            <a:avLst>
              <a:gd name="adj" fmla="val 15701"/>
            </a:avLst>
          </a:prstGeom>
          <a:solidFill>
            <a:srgbClr val="7398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372360" y="4569460"/>
            <a:ext cx="2875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ctr"/>
            <a:r>
              <a:rPr lang="zh-CN" altLang="en-US" sz="4800" spc="320">
                <a:solidFill>
                  <a:srgbClr val="000000"/>
                </a:solidFill>
                <a:ea typeface="思源黑体 Bold" panose="020B0600000000000000" charset="-122"/>
              </a:rPr>
              <a:t>开机准备</a:t>
            </a:r>
            <a:endParaRPr lang="zh-CN" altLang="en-US" sz="4800" spc="320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315200" y="4259580"/>
            <a:ext cx="3505200" cy="1447800"/>
          </a:xfrm>
          <a:prstGeom prst="roundRect">
            <a:avLst>
              <a:gd name="adj" fmla="val 15701"/>
            </a:avLst>
          </a:prstGeom>
          <a:solidFill>
            <a:srgbClr val="7398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630160" y="4568825"/>
            <a:ext cx="2875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ctr"/>
            <a:r>
              <a:rPr lang="zh-CN" altLang="en-US" sz="4800" spc="320">
                <a:solidFill>
                  <a:srgbClr val="000000"/>
                </a:solidFill>
                <a:ea typeface="思源黑体 Bold" panose="020B0600000000000000" charset="-122"/>
                <a:sym typeface="+mn-ea"/>
              </a:rPr>
              <a:t>游戏主体</a:t>
            </a:r>
            <a:endParaRPr lang="zh-CN" altLang="en-US" sz="4800" spc="320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2268200" y="4259580"/>
            <a:ext cx="3505200" cy="1447800"/>
          </a:xfrm>
          <a:prstGeom prst="roundRect">
            <a:avLst>
              <a:gd name="adj" fmla="val 15701"/>
            </a:avLst>
          </a:prstGeom>
          <a:solidFill>
            <a:srgbClr val="7398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2583160" y="4568825"/>
            <a:ext cx="2875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ctr"/>
            <a:r>
              <a:rPr lang="zh-CN" altLang="en-US" sz="4800" spc="320">
                <a:solidFill>
                  <a:srgbClr val="000000"/>
                </a:solidFill>
                <a:ea typeface="思源黑体 Bold" panose="020B0600000000000000" charset="-122"/>
                <a:sym typeface="+mn-ea"/>
              </a:rPr>
              <a:t>后台</a:t>
            </a:r>
            <a:r>
              <a:rPr lang="zh-CN" altLang="en-US" sz="4800" spc="320">
                <a:solidFill>
                  <a:srgbClr val="000000"/>
                </a:solidFill>
                <a:ea typeface="思源黑体 Bold" panose="020B0600000000000000" charset="-122"/>
                <a:sym typeface="+mn-ea"/>
              </a:rPr>
              <a:t>运行</a:t>
            </a:r>
            <a:endParaRPr lang="zh-CN" altLang="en-US" sz="4800" spc="320">
              <a:solidFill>
                <a:srgbClr val="000000"/>
              </a:solidFill>
              <a:ea typeface="思源黑体 Bold" panose="020B0600000000000000" charset="-122"/>
              <a:sym typeface="+mn-ea"/>
            </a:endParaRPr>
          </a:p>
        </p:txBody>
      </p:sp>
      <p:sp>
        <p:nvSpPr>
          <p:cNvPr id="29" name="TextBox 11"/>
          <p:cNvSpPr txBox="1"/>
          <p:nvPr/>
        </p:nvSpPr>
        <p:spPr>
          <a:xfrm>
            <a:off x="8018237" y="8938320"/>
            <a:ext cx="225152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252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6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2247265" y="769620"/>
            <a:ext cx="8747125" cy="874712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413875" y="1394460"/>
            <a:ext cx="6858000" cy="685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6249670" y="1028700"/>
            <a:ext cx="6858000" cy="685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504388" y="1028700"/>
            <a:ext cx="1279224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" name="TextBox 7"/>
          <p:cNvSpPr txBox="1"/>
          <p:nvPr/>
        </p:nvSpPr>
        <p:spPr>
          <a:xfrm>
            <a:off x="8018237" y="8938320"/>
            <a:ext cx="225152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7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78398" y="4979005"/>
            <a:ext cx="6931204" cy="1726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0"/>
              </a:lnSpc>
              <a:spcBef>
                <a:spcPct val="0"/>
              </a:spcBef>
            </a:pPr>
            <a:r>
              <a:rPr lang="en-US" sz="10025" spc="1002">
                <a:solidFill>
                  <a:srgbClr val="000000"/>
                </a:solidFill>
                <a:ea typeface="字由点字倔强黑" panose="00020600040101010101" charset="-122"/>
              </a:rPr>
              <a:t>成果展示</a:t>
            </a:r>
            <a:endParaRPr lang="en-US" sz="10025" spc="1002">
              <a:solidFill>
                <a:srgbClr val="000000"/>
              </a:solidFill>
              <a:ea typeface="字由点字倔强黑" panose="00020600040101010101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149106" y="3246561"/>
            <a:ext cx="5989788" cy="1861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0"/>
              </a:lnSpc>
              <a:spcBef>
                <a:spcPct val="0"/>
              </a:spcBef>
            </a:pPr>
            <a:r>
              <a:rPr lang="en-US" sz="10025" spc="1002">
                <a:solidFill>
                  <a:srgbClr val="000000"/>
                </a:solidFill>
                <a:latin typeface="庞门正道标题体简 Bold"/>
              </a:rPr>
              <a:t>PART03</a:t>
            </a:r>
            <a:endParaRPr lang="en-US" sz="10025" spc="1002">
              <a:solidFill>
                <a:srgbClr val="000000"/>
              </a:solidFill>
              <a:latin typeface="庞门正道标题体简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990600"/>
            <a:ext cx="296790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ACHIEVEMENT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SHOW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43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-6309360" y="5143500"/>
            <a:ext cx="8747125" cy="874712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8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57250" y="5768340"/>
            <a:ext cx="6858000" cy="685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-2306955" y="5402580"/>
            <a:ext cx="6858000" cy="685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alphaModFix amt="43999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0447655" y="-2915920"/>
            <a:ext cx="8747125" cy="874712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8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7613630" y="-2291080"/>
            <a:ext cx="6858000" cy="685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4449425" y="-2656840"/>
            <a:ext cx="6858000" cy="685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504388" y="1028700"/>
            <a:ext cx="1279224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" name="TextBox 11"/>
          <p:cNvSpPr txBox="1"/>
          <p:nvPr/>
        </p:nvSpPr>
        <p:spPr>
          <a:xfrm>
            <a:off x="8018237" y="8938320"/>
            <a:ext cx="225152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8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791335" y="2180590"/>
            <a:ext cx="4585335" cy="5830570"/>
          </a:xfrm>
          <a:custGeom>
            <a:avLst/>
            <a:gdLst/>
            <a:ahLst/>
            <a:cxnLst/>
            <a:rect l="l" t="t" r="r" b="b"/>
            <a:pathLst>
              <a:path w="2566922" h="3264010">
                <a:moveTo>
                  <a:pt x="2566922" y="3264010"/>
                </a:moveTo>
                <a:lnTo>
                  <a:pt x="0" y="3264010"/>
                </a:lnTo>
                <a:lnTo>
                  <a:pt x="0" y="0"/>
                </a:lnTo>
                <a:lnTo>
                  <a:pt x="2566922" y="0"/>
                </a:lnTo>
                <a:lnTo>
                  <a:pt x="2566922" y="3264010"/>
                </a:lnTo>
                <a:close/>
                <a:moveTo>
                  <a:pt x="22860" y="3242420"/>
                </a:moveTo>
                <a:lnTo>
                  <a:pt x="2545332" y="3242420"/>
                </a:lnTo>
                <a:lnTo>
                  <a:pt x="2545332" y="22860"/>
                </a:lnTo>
                <a:lnTo>
                  <a:pt x="22860" y="22860"/>
                </a:lnTo>
                <a:lnTo>
                  <a:pt x="22860" y="324242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14" name="TextBox 14"/>
          <p:cNvSpPr txBox="1"/>
          <p:nvPr/>
        </p:nvSpPr>
        <p:spPr>
          <a:xfrm>
            <a:off x="2875345" y="3471044"/>
            <a:ext cx="2518216" cy="49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zh-CN" altLang="en-US" sz="5400" spc="319">
                <a:solidFill>
                  <a:srgbClr val="000000"/>
                </a:solidFill>
                <a:ea typeface="思源黑体 Bold" panose="020B0600000000000000" charset="-122"/>
              </a:rPr>
              <a:t>亮点</a:t>
            </a:r>
            <a:r>
              <a:rPr lang="en-US" altLang="zh-CN" sz="5400" spc="319">
                <a:solidFill>
                  <a:srgbClr val="000000"/>
                </a:solidFill>
                <a:ea typeface="思源黑体 Bold" panose="020B0600000000000000" charset="-122"/>
              </a:rPr>
              <a:t>1</a:t>
            </a:r>
            <a:endParaRPr lang="en-US" altLang="zh-CN" sz="5400" spc="319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990600"/>
            <a:ext cx="296790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INNOVATION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POINT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311913" y="5124882"/>
            <a:ext cx="3544378" cy="37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zh-CN" altLang="en-US" sz="2800" spc="210">
                <a:solidFill>
                  <a:srgbClr val="000000"/>
                </a:solidFill>
                <a:ea typeface="思源黑体" panose="020B0500000000000000" charset="-122"/>
              </a:rPr>
              <a:t>游戏逻辑简单</a:t>
            </a:r>
            <a:endParaRPr lang="zh-CN" altLang="en-US" sz="2800" spc="210">
              <a:solidFill>
                <a:srgbClr val="000000"/>
              </a:solidFill>
              <a:ea typeface="思源黑体" panose="020B0500000000000000" charset="-122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6851650" y="2180590"/>
            <a:ext cx="4585335" cy="5830570"/>
          </a:xfrm>
          <a:custGeom>
            <a:avLst/>
            <a:gdLst/>
            <a:ahLst/>
            <a:cxnLst/>
            <a:rect l="l" t="t" r="r" b="b"/>
            <a:pathLst>
              <a:path w="2566922" h="3264010">
                <a:moveTo>
                  <a:pt x="2566922" y="3264010"/>
                </a:moveTo>
                <a:lnTo>
                  <a:pt x="0" y="3264010"/>
                </a:lnTo>
                <a:lnTo>
                  <a:pt x="0" y="0"/>
                </a:lnTo>
                <a:lnTo>
                  <a:pt x="2566922" y="0"/>
                </a:lnTo>
                <a:lnTo>
                  <a:pt x="2566922" y="3264010"/>
                </a:lnTo>
                <a:close/>
                <a:moveTo>
                  <a:pt x="22860" y="3242420"/>
                </a:moveTo>
                <a:lnTo>
                  <a:pt x="2545332" y="3242420"/>
                </a:lnTo>
                <a:lnTo>
                  <a:pt x="2545332" y="22860"/>
                </a:lnTo>
                <a:lnTo>
                  <a:pt x="22860" y="22860"/>
                </a:lnTo>
                <a:lnTo>
                  <a:pt x="22860" y="324242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19" name="TextBox 19"/>
          <p:cNvSpPr txBox="1"/>
          <p:nvPr/>
        </p:nvSpPr>
        <p:spPr>
          <a:xfrm>
            <a:off x="7935243" y="3471044"/>
            <a:ext cx="2518216" cy="49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buClrTx/>
              <a:buSzTx/>
              <a:buFontTx/>
            </a:pPr>
            <a:r>
              <a:rPr lang="zh-CN" altLang="en-US" sz="5400" spc="319">
                <a:solidFill>
                  <a:srgbClr val="000000"/>
                </a:solidFill>
                <a:ea typeface="思源黑体 Bold" panose="020B0600000000000000" charset="-122"/>
              </a:rPr>
              <a:t>亮点2</a:t>
            </a:r>
            <a:endParaRPr lang="zh-CN" altLang="en-US" sz="5400" spc="319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371811" y="5124882"/>
            <a:ext cx="3544378" cy="37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buClrTx/>
              <a:buSzTx/>
              <a:buFontTx/>
            </a:pPr>
            <a:r>
              <a:rPr lang="zh-CN" altLang="en-US" sz="2800" spc="210">
                <a:solidFill>
                  <a:srgbClr val="000000"/>
                </a:solidFill>
                <a:ea typeface="思源黑体" panose="020B0500000000000000" charset="-122"/>
              </a:rPr>
              <a:t>游戏操作简单</a:t>
            </a:r>
            <a:endParaRPr lang="zh-CN" altLang="en-US" sz="2800" spc="210">
              <a:solidFill>
                <a:srgbClr val="000000"/>
              </a:solidFill>
              <a:ea typeface="思源黑体" panose="020B0500000000000000" charset="-122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1819890" y="2180590"/>
            <a:ext cx="4585335" cy="5830570"/>
          </a:xfrm>
          <a:custGeom>
            <a:avLst/>
            <a:gdLst/>
            <a:ahLst/>
            <a:cxnLst/>
            <a:rect l="l" t="t" r="r" b="b"/>
            <a:pathLst>
              <a:path w="2566922" h="3264010">
                <a:moveTo>
                  <a:pt x="2566922" y="3264010"/>
                </a:moveTo>
                <a:lnTo>
                  <a:pt x="0" y="3264010"/>
                </a:lnTo>
                <a:lnTo>
                  <a:pt x="0" y="0"/>
                </a:lnTo>
                <a:lnTo>
                  <a:pt x="2566922" y="0"/>
                </a:lnTo>
                <a:lnTo>
                  <a:pt x="2566922" y="3264010"/>
                </a:lnTo>
                <a:close/>
                <a:moveTo>
                  <a:pt x="22860" y="3242420"/>
                </a:moveTo>
                <a:lnTo>
                  <a:pt x="2545332" y="3242420"/>
                </a:lnTo>
                <a:lnTo>
                  <a:pt x="2545332" y="22860"/>
                </a:lnTo>
                <a:lnTo>
                  <a:pt x="22860" y="22860"/>
                </a:lnTo>
                <a:lnTo>
                  <a:pt x="22860" y="324242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23" name="TextBox 23"/>
          <p:cNvSpPr txBox="1"/>
          <p:nvPr/>
        </p:nvSpPr>
        <p:spPr>
          <a:xfrm>
            <a:off x="12904075" y="3471044"/>
            <a:ext cx="2518216" cy="49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buClrTx/>
              <a:buSzTx/>
              <a:buFontTx/>
            </a:pPr>
            <a:r>
              <a:rPr lang="zh-CN" altLang="en-US" sz="5400" spc="319">
                <a:solidFill>
                  <a:srgbClr val="000000"/>
                </a:solidFill>
                <a:ea typeface="思源黑体 Bold" panose="020B0600000000000000" charset="-122"/>
              </a:rPr>
              <a:t>亮点3</a:t>
            </a:r>
            <a:endParaRPr lang="zh-CN" altLang="en-US" sz="5400" spc="319">
              <a:solidFill>
                <a:srgbClr val="000000"/>
              </a:solidFill>
              <a:ea typeface="思源黑体 Bold" panose="020B06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340643" y="5124882"/>
            <a:ext cx="3544378" cy="37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buClrTx/>
              <a:buSzTx/>
              <a:buFontTx/>
            </a:pPr>
            <a:r>
              <a:rPr lang="zh-CN" altLang="en-US" sz="2800" spc="210">
                <a:solidFill>
                  <a:srgbClr val="000000"/>
                </a:solidFill>
                <a:ea typeface="思源黑体" panose="020B0500000000000000" charset="-122"/>
              </a:rPr>
              <a:t>积木</a:t>
            </a:r>
            <a:r>
              <a:rPr lang="zh-CN" altLang="en-US" sz="2800" spc="210">
                <a:solidFill>
                  <a:srgbClr val="000000"/>
                </a:solidFill>
                <a:ea typeface="思源黑体" panose="020B0500000000000000" charset="-122"/>
              </a:rPr>
              <a:t>模块编程</a:t>
            </a:r>
            <a:endParaRPr lang="zh-CN" altLang="en-US" sz="2800" spc="210">
              <a:solidFill>
                <a:srgbClr val="000000"/>
              </a:solidFill>
              <a:ea typeface="思源黑体" panose="020B0500000000000000" charset="-122"/>
            </a:endParaRPr>
          </a:p>
        </p:txBody>
      </p:sp>
      <p:sp>
        <p:nvSpPr>
          <p:cNvPr id="25" name="TextBox 16"/>
          <p:cNvSpPr txBox="1"/>
          <p:nvPr/>
        </p:nvSpPr>
        <p:spPr>
          <a:xfrm>
            <a:off x="2367158" y="6362497"/>
            <a:ext cx="3544378" cy="37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2940"/>
              </a:lnSpc>
              <a:buClrTx/>
              <a:buSzTx/>
              <a:buFontTx/>
            </a:pPr>
            <a:r>
              <a:rPr lang="zh-CN" altLang="en-US" sz="3200" spc="210">
                <a:solidFill>
                  <a:srgbClr val="000000"/>
                </a:solidFill>
                <a:ea typeface="思源黑体" panose="020B0500000000000000" charset="-122"/>
              </a:rPr>
              <a:t>易理解</a:t>
            </a:r>
            <a:endParaRPr lang="zh-CN" altLang="en-US" sz="3200" spc="210">
              <a:solidFill>
                <a:srgbClr val="000000"/>
              </a:solidFill>
              <a:ea typeface="思源黑体" panose="020B0500000000000000" charset="-122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7421976" y="6359957"/>
            <a:ext cx="3544378" cy="37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2940"/>
              </a:lnSpc>
              <a:buClrTx/>
              <a:buSzTx/>
              <a:buFontTx/>
            </a:pPr>
            <a:r>
              <a:rPr lang="zh-CN" altLang="en-US" sz="3200" spc="210">
                <a:solidFill>
                  <a:srgbClr val="000000"/>
                </a:solidFill>
                <a:ea typeface="思源黑体" panose="020B0500000000000000" charset="-122"/>
              </a:rPr>
              <a:t>可玩性强</a:t>
            </a:r>
            <a:endParaRPr lang="zh-CN" altLang="en-US" sz="3200" spc="210">
              <a:solidFill>
                <a:srgbClr val="000000"/>
              </a:solidFill>
              <a:ea typeface="思源黑体" panose="020B0500000000000000" charset="-122"/>
            </a:endParaRPr>
          </a:p>
        </p:txBody>
      </p:sp>
      <p:sp>
        <p:nvSpPr>
          <p:cNvPr id="27" name="TextBox 24"/>
          <p:cNvSpPr txBox="1"/>
          <p:nvPr/>
        </p:nvSpPr>
        <p:spPr>
          <a:xfrm>
            <a:off x="12268253" y="6359957"/>
            <a:ext cx="3544378" cy="37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2940"/>
              </a:lnSpc>
              <a:buClrTx/>
              <a:buSzTx/>
              <a:buFontTx/>
            </a:pPr>
            <a:r>
              <a:rPr lang="zh-CN" altLang="en-US" sz="3200" spc="210">
                <a:solidFill>
                  <a:srgbClr val="000000"/>
                </a:solidFill>
                <a:ea typeface="思源黑体" panose="020B0500000000000000" charset="-122"/>
              </a:rPr>
              <a:t>逻辑清晰</a:t>
            </a:r>
            <a:endParaRPr lang="zh-CN" altLang="en-US" sz="3200" spc="210">
              <a:solidFill>
                <a:srgbClr val="000000"/>
              </a:solidFill>
              <a:ea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247427" y="769892"/>
            <a:ext cx="14024232" cy="8747216"/>
            <a:chOff x="0" y="0"/>
            <a:chExt cx="18698977" cy="1166295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662955" cy="11662955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9554977" y="832817"/>
              <a:ext cx="9144000" cy="914400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5335949" y="345077"/>
              <a:ext cx="9144000" cy="9144000"/>
            </a:xfrm>
            <a:prstGeom prst="rect">
              <a:avLst/>
            </a:prstGeom>
          </p:spPr>
        </p:pic>
      </p:grpSp>
      <p:sp>
        <p:nvSpPr>
          <p:cNvPr id="6" name="AutoShape 6"/>
          <p:cNvSpPr/>
          <p:nvPr/>
        </p:nvSpPr>
        <p:spPr>
          <a:xfrm>
            <a:off x="8504388" y="1028700"/>
            <a:ext cx="1279224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" name="TextBox 7"/>
          <p:cNvSpPr txBox="1"/>
          <p:nvPr/>
        </p:nvSpPr>
        <p:spPr>
          <a:xfrm>
            <a:off x="8018237" y="8938320"/>
            <a:ext cx="225152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9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78398" y="4979005"/>
            <a:ext cx="6931204" cy="1726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0"/>
              </a:lnSpc>
              <a:spcBef>
                <a:spcPct val="0"/>
              </a:spcBef>
            </a:pPr>
            <a:r>
              <a:rPr lang="en-US" sz="10025" spc="1002">
                <a:solidFill>
                  <a:srgbClr val="000000"/>
                </a:solidFill>
                <a:ea typeface="字由点字倔强黑" panose="00020600040101010101" charset="-122"/>
              </a:rPr>
              <a:t>复盘总结</a:t>
            </a:r>
            <a:endParaRPr lang="en-US" sz="10025" spc="1002">
              <a:solidFill>
                <a:srgbClr val="000000"/>
              </a:solidFill>
              <a:ea typeface="字由点字倔强黑" panose="00020600040101010101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050774" y="3246561"/>
            <a:ext cx="6186452" cy="1861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0"/>
              </a:lnSpc>
              <a:spcBef>
                <a:spcPct val="0"/>
              </a:spcBef>
            </a:pPr>
            <a:r>
              <a:rPr lang="en-US" sz="10025" spc="1002">
                <a:solidFill>
                  <a:srgbClr val="000000"/>
                </a:solidFill>
                <a:latin typeface="庞门正道标题体简 Bold"/>
              </a:rPr>
              <a:t>PART04</a:t>
            </a:r>
            <a:endParaRPr lang="en-US" sz="10025" spc="1002">
              <a:solidFill>
                <a:srgbClr val="000000"/>
              </a:solidFill>
              <a:latin typeface="庞门正道标题体简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990600"/>
            <a:ext cx="296790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PROJECT 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SUMMARY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247427" y="769892"/>
            <a:ext cx="14024232" cy="8747216"/>
            <a:chOff x="0" y="0"/>
            <a:chExt cx="18698977" cy="1166295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662955" cy="11662955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9554977" y="832817"/>
              <a:ext cx="9144000" cy="914400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5335949" y="345077"/>
              <a:ext cx="9144000" cy="914400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2595890" y="3943994"/>
            <a:ext cx="13096221" cy="2400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20"/>
              </a:lnSpc>
            </a:pPr>
            <a:r>
              <a:rPr lang="en-US" sz="18020">
                <a:solidFill>
                  <a:srgbClr val="000000"/>
                </a:solidFill>
                <a:ea typeface="字由点字倔强黑" panose="00020600040101010101" charset="-122"/>
              </a:rPr>
              <a:t>谢谢观看</a:t>
            </a:r>
            <a:endParaRPr lang="en-US" sz="18020">
              <a:solidFill>
                <a:srgbClr val="000000"/>
              </a:solidFill>
              <a:ea typeface="字由点字倔强黑" panose="00020600040101010101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990600"/>
            <a:ext cx="296790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PROJECTS 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  <a:p>
            <a:pPr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SHOW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007774" y="8161139"/>
            <a:ext cx="2251526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spc="359">
                <a:solidFill>
                  <a:srgbClr val="000000"/>
                </a:solidFill>
                <a:latin typeface="思源黑体" panose="020B0500000000000000" charset="-122"/>
                <a:sym typeface="+mn-ea"/>
              </a:rPr>
              <a:t>2022</a:t>
            </a:r>
            <a:endParaRPr lang="en-US" sz="3600" spc="359">
              <a:solidFill>
                <a:srgbClr val="000000"/>
              </a:solidFill>
              <a:latin typeface="思源黑体" panose="020B0500000000000000" charset="-122"/>
            </a:endParaRPr>
          </a:p>
          <a:p>
            <a:pPr algn="r">
              <a:lnSpc>
                <a:spcPts val="4320"/>
              </a:lnSpc>
            </a:pPr>
            <a:r>
              <a:rPr lang="en-US" sz="3600" spc="359">
                <a:solidFill>
                  <a:srgbClr val="000000"/>
                </a:solidFill>
                <a:latin typeface="思源黑体" panose="020B0500000000000000" charset="-122"/>
                <a:sym typeface="+mn-ea"/>
              </a:rPr>
              <a:t>0729</a:t>
            </a:r>
            <a:endParaRPr lang="en-US" sz="3600" spc="359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6093429" y="6531511"/>
            <a:ext cx="6101143" cy="646721"/>
            <a:chOff x="0" y="0"/>
            <a:chExt cx="8134857" cy="862295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8134857" cy="862295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20997" y="119376"/>
              <a:ext cx="7892863" cy="57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spc="260">
                  <a:solidFill>
                    <a:srgbClr val="000000"/>
                  </a:solidFill>
                  <a:latin typeface="思源黑体" panose="020B0500000000000000" charset="-122"/>
                </a:rPr>
                <a:t>THANK YOU</a:t>
              </a:r>
              <a:endParaRPr lang="en-US" sz="2600" spc="260">
                <a:solidFill>
                  <a:srgbClr val="000000"/>
                </a:solidFill>
                <a:latin typeface="思源黑体" panose="020B0500000000000000" charset="-122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018237" y="8938320"/>
            <a:ext cx="2251526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210">
                <a:solidFill>
                  <a:srgbClr val="000000"/>
                </a:solidFill>
                <a:latin typeface="思源黑体" panose="020B0500000000000000" charset="-122"/>
              </a:rPr>
              <a:t>10</a:t>
            </a:r>
            <a:endParaRPr lang="en-US" sz="2100" spc="210">
              <a:solidFill>
                <a:srgbClr val="000000"/>
              </a:solidFill>
              <a:latin typeface="思源黑体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504388" y="1028700"/>
            <a:ext cx="1279224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 rot="-818010">
            <a:off x="3970427" y="2098185"/>
            <a:ext cx="10191466" cy="604294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3401816" y="2411201"/>
            <a:ext cx="1417788" cy="1417788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3312717" y="6344757"/>
            <a:ext cx="1816382" cy="181638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028700" y="8326663"/>
            <a:ext cx="931637" cy="93163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Y0MmU0Yjk2MzI1Y2VlNWIyMzhlNjIxNjAyYTE2MTc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WPS 演示</Application>
  <PresentationFormat>On-screen Show (4:3)</PresentationFormat>
  <Paragraphs>133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思源黑体</vt:lpstr>
      <vt:lpstr>黑体</vt:lpstr>
      <vt:lpstr>字由点字倔强黑</vt:lpstr>
      <vt:lpstr>思源黑体 Bold</vt:lpstr>
      <vt:lpstr>字由点字倔强黑 Bold</vt:lpstr>
      <vt:lpstr>庞门正道标题体简 Bold</vt:lpstr>
      <vt:lpstr>WenQuanYi</vt:lpstr>
      <vt:lpstr>Calibri</vt:lpstr>
      <vt:lpstr>微软雅黑</vt:lpstr>
      <vt:lpstr>Arial Unicode MS</vt:lpstr>
      <vt:lpstr>JetBrains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蓝紫色课堂展示现代校园交流中文演示文稿</dc:title>
  <dc:creator/>
  <cp:lastModifiedBy>宋</cp:lastModifiedBy>
  <cp:revision>3</cp:revision>
  <dcterms:created xsi:type="dcterms:W3CDTF">2006-08-16T00:00:00Z</dcterms:created>
  <dcterms:modified xsi:type="dcterms:W3CDTF">2022-07-29T08:13:50Z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89602A613E1249F5B3FF0058955B8C03</vt:lpwstr>
  </property>
  <property fmtid="{D5CDD505-2E9C-101B-9397-08002B2CF9AE}" pid="3" name="KSOProductBuildVer">
    <vt:lpwstr>2052-11.1.0.11875</vt:lpwstr>
  </property>
</Properties>
</file>